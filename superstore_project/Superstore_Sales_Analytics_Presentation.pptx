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Sales by Category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741999</c:v>
                </c:pt>
                <c:pt idx="2">
                  <c:v>719047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Sales by Customer Segment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45.27</c:v>
                </c:pt>
                <c:pt idx="1">
                  <c:v>32.98</c:v>
                </c:pt>
                <c:pt idx="2">
                  <c:v>21.75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Profit by Region ($K) — 2017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Central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33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Top 5 Sub-Categories by Profit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Copiers</c:v>
                  </c:pt>
                  <c:pt idx="1">
                    <c:v>Accessories</c:v>
                  </c:pt>
                  <c:pt idx="2">
                    <c:v>Phones</c:v>
                  </c:pt>
                  <c:pt idx="3">
                    <c:v>Paper</c:v>
                  </c:pt>
                  <c:pt idx="4">
                    <c:v>Binders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16</c:v>
                </c:pt>
                <c:pt idx="2">
                  <c:v>13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463040" cy="14630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1097280" cy="1097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914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Superstore Sales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57200" y="16459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System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457200" y="2514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Warehousing &amp; Business Intelligence Solution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30632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32461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Kenyi Samuel  •  Shima Joshua  •  Nakanjako Teddy Shillah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Yasin Magombe  |  Makerere University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17043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69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35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BI solution was needed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13055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0299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3957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09067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9900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355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 DW, ETL, BI 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8620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405079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950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3159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tools, quality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0058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00584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117043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069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1435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ERD, DFD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9659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96596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13055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0" y="20299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Implementation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3957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phases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9260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92608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309067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4960" y="29900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Findings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3355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 &amp; KPIs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8862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886200"/>
            <a:ext cx="502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818888" y="4050792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94960" y="3950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43159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70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Challenge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Superstores generate massive volumes of daily transactional data that contains hidden business value but is difficult to manually process.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170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Analytics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systems transform raw data into actionable insights through tools, technologies and analytical methods.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repository for historical data enables efficient analysis. Dimensional modeling using Star Schema simplifies queries.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834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provides interactive dashboards, drill-down analysis, DAX calculations, and real-time visualizations.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data stored in fragmented systems with no integrated analytical reporting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64792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6479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76479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cannot quickly identify top/underperforming products or regional sales trends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23744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2374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52374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repository → slow reporting, inconsistent analysis, reduced visibility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82696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8269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2826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lack timely insights to respond to changing market conditions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41648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4164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0416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poor strategic planning, inefficient resource allocation &amp; reduced competitiveness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Design &amp; implement a Star Schema data warehouse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Develop an ETL pipeline using Python 3.14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7977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interactive Power BI dashboards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9242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Identify sales trends, top products &amp; regional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0507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actionable business recommendations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5486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US superstore transactions across sales, profit, customers, regions &amp;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5486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1945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Furniture, Office Supplies &amp; Technology 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5486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834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only — no real-time feeds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474720"/>
            <a:ext cx="5486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474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economic factors not included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4114800"/>
            <a:ext cx="5486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1148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ML/forecasting — trend-based analysis only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(Inmon)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Subject-oriented, integrated, non-volatile &amp; time-variant. Stores large volumes of historical data for strategic decision-making.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(Kimball)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central fact table + dimension tables. Simpler &amp; faster than Snowflake Schema which adds complex joins.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Load. Consumes 60–70% of total DW development time. Python + Pandas used for cleaning &amp; preprocessing.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058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4630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BI: interactive dashboards, drill-down analysis, DAX expressions, filters, slicers &amp; real-time visualization.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36576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retailers achieve significantly higher profit margins. Applied here to evaluate sales performance, segments &amp; profitability.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Superstore Sales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records  •  21 attributes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013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(Vivek Kumar, 2022)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482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Order ID, Date, Ship Date,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951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Category, Sales, Profit,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Discount, Region, 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81328"/>
            <a:ext cx="397764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499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1499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709928"/>
            <a:ext cx="39776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7282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1728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938528"/>
            <a:ext cx="397764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956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956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167128"/>
            <a:ext cx="39776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185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Issues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185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1854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395728"/>
            <a:ext cx="397764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414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Inconsistencies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414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2414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str.lower()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624328"/>
            <a:ext cx="39776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642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Product IDs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642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2642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1325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383280"/>
            <a:ext cx="13258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7490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74520" y="3383280"/>
            <a:ext cx="1325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74520" y="3383280"/>
            <a:ext cx="13258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187452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Libraries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965960" y="37490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sqlite3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91840" y="3383280"/>
            <a:ext cx="1325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3383280"/>
            <a:ext cx="13258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329184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0" y="37490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09160" y="3383280"/>
            <a:ext cx="1325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383280"/>
            <a:ext cx="13258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37490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26480" y="3383280"/>
            <a:ext cx="1325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26480" y="3383280"/>
            <a:ext cx="13258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612648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17920" y="37490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543800" y="3383280"/>
            <a:ext cx="1325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543800" y="3383280"/>
            <a:ext cx="13258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0" name="Text 58"/>
          <p:cNvSpPr/>
          <p:nvPr/>
        </p:nvSpPr>
        <p:spPr>
          <a:xfrm>
            <a:off x="754380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635240" y="37490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704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CSV  •  9,994 rows × 21 cols  •  Kaggle source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10972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13055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057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Processing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24231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+ Pandas  •  Extract → Transform → 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78892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109728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09067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3832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•  Star Schema  •  1 Fact Table + 4 Dimension Tables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749040"/>
            <a:ext cx="4572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1097280" cy="8229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40507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3977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43434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 •  Interactive Dashboards  •  KPI Cards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828800"/>
            <a:ext cx="2743200" cy="1920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fact_sales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46120" y="22677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sale_id (PK)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468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(FK)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2871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 (FK)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3072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(FK)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32735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ship_mode, sales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3474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discount, profit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005840"/>
            <a:ext cx="2468880" cy="1280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1005840"/>
            <a:ext cx="2468880" cy="1554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(PK)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sub_category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2468880" cy="1828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 (PK)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postal_code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2926080"/>
            <a:ext cx="2468880" cy="1828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(PK)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day, month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quarter, year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4480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97480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37960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9748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3796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63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1463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customer_name, segment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305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130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product_name, category, sub_category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980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7980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7980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location_id, postal_code, city, state, region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655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4655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34655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date_id, full_date, day, month, month_name, quarter, year, weekday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087368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1330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1330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41330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sale_id, order_id, customer_id FK, product_id FK, location_id FK, date_id FK, ship_mode, sales, quantity, discount, profit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0116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pd.read_csv() with encoding='latin-1'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Loaded 9,994 rows × 21 columns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626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FileNotFoundError handling included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606040"/>
            <a:ext cx="1371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00584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005840"/>
            <a:ext cx="20116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1645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Standardized column names (str.lower)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Parsed dates with pd.to_datetime()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9626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Filled nulls, dropped duplicates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6210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Rounded numerics (sales, profit)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606040"/>
            <a:ext cx="1371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00584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201168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BUILD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1645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dim_customer, dim_product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dim_location, dim_date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626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Generated surrogate keys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6210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Merged FKs into fact_sales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2606040"/>
            <a:ext cx="1371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100584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1005840"/>
            <a:ext cx="201168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1645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Exported 5 CSV files to warehouse_output/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23042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Loaded into SQLite via .to_sql()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29626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DB: superstore_warehouse.db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Code Highlights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= df.columns.str.strip()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.str.lower()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df["order_date"] = pd.to_datetime(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df["order_date"], errors="coerce")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df.drop_duplicates(inplace=True)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df["sales"] = pd.to_numeric(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df["sales"]).round(2)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Build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 = df[["customer_id",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"customer_name","segment"]]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.drop_duplicates()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dim_location.insert(0, "location_id",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range(1, len(dim_location)+1))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fact_sales.insert(0, "sale_id",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range(1, len(fact_sales)+1))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Console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7955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[EXTRACT]  Loaded 9,994 rows and 21 columns.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[TRANSFORM] Duplicate rows: 0   Missing values: 0   Data cleaned successfully.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[LOAD]  dim_customer: 793  |  dim_product: 1,862  |  dim_location: 632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dim_date: 1,434    |  fact_sales: 9,994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 COMPLETE — SQLite DB: warehouse_output/superstore_warehouse.db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0116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years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3472" y="100584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33472" y="100584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724912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24912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$286K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24912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years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00584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1005840"/>
            <a:ext cx="201168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01184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01184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86016" y="100584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86016" y="1005840"/>
            <a:ext cx="201168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7077456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77456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9,994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77456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2331720"/>
          <a:ext cx="3931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4480560" y="2331720"/>
          <a:ext cx="42976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274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13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4813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73936"/>
            <a:ext cx="384048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830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7830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$836,154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7830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$145,455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249424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585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2585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$741,999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2585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$18,451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384048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34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2734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$719,047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2734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$122,491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0" y="9601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342900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47872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43000" y="3547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Sub-Categories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0080" y="400507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($25K), Accessories ($16K), Phones ($13K) — all Technology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55848" y="342900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3547872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041648" y="3547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3538728" y="400507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&gt;20% frequently cause negative profit, esp. in Furniture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54496" y="342900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547872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40296" y="3547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Leads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437376" y="400507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segment: 45.27% of sales. Corporate has higher order values.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960120"/>
            <a:ext cx="393192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Performance Snapshot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508760"/>
            <a:ext cx="3657600" cy="3017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52704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0" y="152704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$733.22K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847088"/>
            <a:ext cx="365760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86537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18653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$93.44K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185416"/>
            <a:ext cx="3657600" cy="3017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2203704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22037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12.74%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2523744"/>
            <a:ext cx="365760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2542032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254203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862072"/>
            <a:ext cx="3657600" cy="3017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288036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288036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($44K profit)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3200400"/>
            <a:ext cx="365760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321868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321868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(45.27%)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(Power BI)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" y="413308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SUM(fact_sales[sales])   |   Total Profit = SUM(fact_sales[profit])   |   Profit Margin = DIVIDE(SUM(fact_sales[profit]), SUM(fact_sales[sales])) * 100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Technology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investment in Copiers, Phones &amp; Accessories — the highest-margin sub-categories.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0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Discounting Policy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15–20% maximum to prevent profit erosion, particularly in Furniture.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54864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423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Corporate Clients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7889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loyalty programs for high-value Corporate customers who generate larger order values.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31720"/>
            <a:ext cx="54864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752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423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Central Region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7889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cost analysis for the lowest-profitability region and identify operational inefficiencies.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548640" cy="1188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40782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Seasonal Trends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114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promotions and inventory ahead of Q4 peak periods to maximize revenue.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57600"/>
            <a:ext cx="54864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40782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West Region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114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successful strategies of the West region across South and Central regions.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51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3716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+ Pandas processed 9,994 records through 4 phases into a structured Star Schema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810512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18562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1762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with 1 fact table (9,994 rows) and 4 dimension tables totalling 4,721 records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2615184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249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6609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KPIs, line charts, bar charts, donut charts &amp; year slicers delivering actionable insights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" y="3419856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2958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4655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05840" y="37856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profit, West leads regions, Consumer leads segments; discounts erode margins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19"/>
          <p:cNvSpPr/>
          <p:nvPr/>
        </p:nvSpPr>
        <p:spPr>
          <a:xfrm>
            <a:off x="594360" y="43708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demonstrates how Data Warehousing and Business Intelligence can transform raw retail data into strategic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4572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Kenyi Samuel — emmanuelkenyisamuel@gmail.com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Shima Joshua — shimajoshua57@gmail.com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5112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Nakanjako Teddy Shillah — teddyshillah1@gmail.com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Yasin Magombe  |  Department of Computer Science  |  Makerere University  |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Analytics System</dc:title>
  <dc:subject>PptxGenJS Presentation</dc:subject>
  <dc:creator>Emmanuel Kenyi Samuel, Shima Joshua, Nakanjako Teddy Shillah</dc:creator>
  <cp:lastModifiedBy>Emmanuel Kenyi Samuel, Shima Joshua, Nakanjako Teddy Shillah</cp:lastModifiedBy>
  <cp:revision>1</cp:revision>
  <dcterms:created xsi:type="dcterms:W3CDTF">2026-05-17T17:22:35Z</dcterms:created>
  <dcterms:modified xsi:type="dcterms:W3CDTF">2026-05-17T17:22:35Z</dcterms:modified>
</cp:coreProperties>
</file>